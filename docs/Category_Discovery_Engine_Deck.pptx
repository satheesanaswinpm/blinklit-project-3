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F6E"/>
                </a:solidFill>
                <a:latin typeface="Calibri"/>
              </a:rPr>
              <a:t>01  · 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The platform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Blinkit wins on speed for groceries — but users rarely expand into new categories.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5664A"/>
                </a:solidFill>
                <a:latin typeface="Calibri"/>
              </a:rPr>
              <a:t>What Blinkit is great at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 10–20 min delivery for staples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 Habitual reorder / grocery mental model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 Dense SKU coverage in core categories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 Strong late-night convenience use case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5664A"/>
                </a:solidFill>
                <a:latin typeface="Calibri"/>
              </a:rPr>
              <a:t>Primary research question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827"/>
                </a:solidFill>
                <a:latin typeface="Calibri"/>
              </a:rPr>
              <a:t>Why don't Blinkit users explore new categories?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73152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6858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5664A"/>
                </a:solidFill>
                <a:latin typeface="Calibri"/>
              </a:rPr>
              <a:t>The growth tension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111827"/>
                </a:solidFill>
                <a:latin typeface="Calibri"/>
              </a:rPr>
              <a:t>Users treat Blinkit as a narrow utility (milk, bread, snacks) — not a multi-category marketplace.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827"/>
                </a:solidFill>
                <a:latin typeface="Calibri"/>
              </a:rPr>
              <a:t>Business impact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 Caps basket size &amp; category mix per MAC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 Under-monetizes Home, Beauty, Electronics, Pet, Pharma-adjacent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•  Recommendations/promos rarely address why users refuse unfamiliar categories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827"/>
                </a:solidFill>
                <a:latin typeface="Calibri"/>
              </a:rPr>
              <a:t>Evidence gap today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Feedback is scattered across Play/App Store, Reddit, social, forums — product teams lack a systematic barrier 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Category Discovery Engine  ·  Why don't Blinkit users explore new categories?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F6E"/>
                </a:solidFill>
                <a:latin typeface="Calibri"/>
              </a:rPr>
              <a:t>02  ·  MARKET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Competition &amp; sentiment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Quick-commerce is a race for wallet share — category expansion is the next battleground.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5664A"/>
                </a:solidFill>
                <a:latin typeface="Calibri"/>
              </a:rPr>
              <a:t>Competitive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Zepto / Instamart / Swiggy — similar speed narrative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Kirana + supermarket still win trust for non-grocery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Amazon / Flipkart for electronics &amp; branded home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Category expansion = differentiation beyond 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5664A"/>
                </a:solidFill>
                <a:latin typeface="Calibri"/>
              </a:rPr>
              <a:t>Sentiment themes (corpus)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3172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Quality distrust dominates non-grocery talk (211 mentions)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Price / fee uncertainty (133)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Coverage &amp; ETA anxiety (131)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Assortment gaps teach 'not for this' (67)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Praise is often generic ('good app') — low insight density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37360"/>
            <a:ext cx="36118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5664A"/>
                </a:solidFill>
                <a:latin typeface="Calibri"/>
              </a:rPr>
              <a:t>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31720"/>
            <a:ext cx="3246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Speed alone won't unlock Home / Beauty / Electronics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Trust, discovery adjacency, and price clarity are the wedges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Snacks is the easiest expansion adjacency to grocery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Home needs risk reducers (returns / quality cues)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Category Discovery Engine  ·  Why don't Blinkit users explore new categories?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F6E"/>
                </a:solidFill>
                <a:latin typeface="Calibri"/>
              </a:rPr>
              <a:t>03  ·  SEGMENTATION · PERSONAS · 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Who stays stuck — and what the evidence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Corpus: 2,818 reviews · 643 exploration-relevant · segments from KMeans on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Routine Buyers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n≈554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Calibri"/>
              </a:rPr>
              <a:t>Same milk/bread loop; never browse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916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Price Sensitive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n≈1,736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Calibri"/>
              </a:rPr>
              <a:t>Fee/markup fear blocks trial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Explorers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n≈348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Calibri"/>
              </a:rPr>
              <a:t>Open to try if trust + clarity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6916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78308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Impulse Buyers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n≈180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11827"/>
                </a:solidFill>
                <a:latin typeface="Calibri"/>
              </a:rPr>
              <a:t>Attach if surfaced in-session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46120"/>
            <a:ext cx="111556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83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5664A"/>
                </a:solidFill>
                <a:latin typeface="Calibri"/>
              </a:rPr>
              <a:t>Hypotheses × evidence mentions (barrier-linked)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H1 Discovery  ·  8 mentions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Adjacent categories not surfaced in grocery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947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54708"/>
                </a:solidFill>
                <a:latin typeface="Calibri"/>
              </a:rPr>
              <a:t>H2 Quality trust  ·  211 mentions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Non-grocery quality/authenticity feels riskier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7947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54708"/>
                </a:solidFill>
                <a:latin typeface="Calibri"/>
              </a:rPr>
              <a:t>H3 Price clarity  ·  133 mentions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All-in fees unclear vs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006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H4 Habit reorder  ·  36 mentions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Power reorderers never leave the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8006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H5 Assortment  ·  67 mentions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Missing SKUs teach 'Blinkit isn't for this'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8006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54708"/>
                </a:solidFill>
                <a:latin typeface="Calibri"/>
              </a:rPr>
              <a:t>H6 Coverage/ETA  ·  131 mentions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ETA anxiety reduces unfamiliar-category trial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Category Discovery Engine  ·  Why don't Blinkit users explore new categories?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F6E"/>
                </a:solidFill>
                <a:latin typeface="Calibri"/>
              </a:rPr>
              <a:t>04  ·  PROBLEM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Problem canvas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From jobs-to-be-done to unmet needs — grounded in exploration tags.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Customer job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When I need something outside my usual list, I want to trust assortment &amp; quality so I can order without second-guessing.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Situation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Short grocery reorder sessions under time pressure; mental model = 'Blinkit = staples'.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Desired outcome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Serendipitous but relevant discovery + bounded risk (returns, fees, quality cues).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Current workaround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Order only staples on Blinkit; buy Home/Beauty/Electronics elsewhere.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1148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Pains / barriers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Quality distrust · price uncertainty · weak in-session discovery · assortment gaps · ETA anxiety.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1148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Unmet needs (P0)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1) Trusted paths into non-grocery during grocery sessions  2) Risk reducers for first buys outside grocery.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Category Discovery Engine  ·  Why don't Blinkit users explore new categories?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F6E"/>
                </a:solidFill>
                <a:latin typeface="Calibri"/>
              </a:rPr>
              <a:t>05  ·  SOLUTION IDEATION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Ideation &amp; RICE prioritisation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Four experiment seeds ranked; two MVPs selected for Prototype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4681728" cy="411480"/>
          </a:xfrm>
          <a:prstGeom prst="roundRect">
            <a:avLst>
              <a:gd name="adj" fmla="val 8000"/>
            </a:avLst>
          </a:prstGeom>
          <a:solidFill>
            <a:srgbClr val="056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801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737360"/>
            <a:ext cx="566928" cy="411480"/>
          </a:xfrm>
          <a:prstGeom prst="roundRect">
            <a:avLst>
              <a:gd name="adj" fmla="val 8000"/>
            </a:avLst>
          </a:prstGeom>
          <a:solidFill>
            <a:srgbClr val="056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0952" y="1801368"/>
            <a:ext cx="4571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737360"/>
            <a:ext cx="566928" cy="411480"/>
          </a:xfrm>
          <a:prstGeom prst="roundRect">
            <a:avLst>
              <a:gd name="adj" fmla="val 8000"/>
            </a:avLst>
          </a:prstGeom>
          <a:solidFill>
            <a:srgbClr val="056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71032" y="1801368"/>
            <a:ext cx="4571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737360"/>
            <a:ext cx="566928" cy="411480"/>
          </a:xfrm>
          <a:prstGeom prst="roundRect">
            <a:avLst>
              <a:gd name="adj" fmla="val 8000"/>
            </a:avLst>
          </a:prstGeom>
          <a:solidFill>
            <a:srgbClr val="056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801368"/>
            <a:ext cx="4571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737360"/>
            <a:ext cx="566928" cy="411480"/>
          </a:xfrm>
          <a:prstGeom prst="roundRect">
            <a:avLst>
              <a:gd name="adj" fmla="val 8000"/>
            </a:avLst>
          </a:prstGeom>
          <a:solidFill>
            <a:srgbClr val="056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51192" y="1801368"/>
            <a:ext cx="4571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737360"/>
            <a:ext cx="841248" cy="411480"/>
          </a:xfrm>
          <a:prstGeom prst="roundRect">
            <a:avLst>
              <a:gd name="adj" fmla="val 8000"/>
            </a:avLst>
          </a:prstGeom>
          <a:solidFill>
            <a:srgbClr val="056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18013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737360"/>
            <a:ext cx="1389888" cy="411480"/>
          </a:xfrm>
          <a:prstGeom prst="roundRect">
            <a:avLst>
              <a:gd name="adj" fmla="val 8000"/>
            </a:avLst>
          </a:prstGeom>
          <a:solidFill>
            <a:srgbClr val="056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18013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240280"/>
            <a:ext cx="468172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Snacks discovery rail (after grocery add)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22402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0952" y="237744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22402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237744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22402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237744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78040" y="224028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51192" y="237744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2240280"/>
            <a:ext cx="84124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91272" y="23774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108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2520" y="2240280"/>
            <a:ext cx="138988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05672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5664A"/>
                </a:solidFill>
                <a:latin typeface="Calibri"/>
              </a:rPr>
              <a:t>P0 MVP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2880360"/>
            <a:ext cx="468172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Home first-buy quality guarantee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57800" y="288036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30952" y="301752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288036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71032" y="301752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288036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11112" y="301752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78040" y="288036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51192" y="301752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2880360"/>
            <a:ext cx="84124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91272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85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32520" y="2880360"/>
            <a:ext cx="1389888" cy="566928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05672" y="3017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5664A"/>
                </a:solidFill>
                <a:latin typeface="Calibri"/>
              </a:rPr>
              <a:t>P0 MVP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3520440"/>
            <a:ext cx="468172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All-in price clarity on new-category PDPs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57800" y="352044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30952" y="365760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97880" y="352044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71032" y="365760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37960" y="352044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11112" y="365760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78040" y="352044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51192" y="365760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18120" y="3520440"/>
            <a:ext cx="84124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91272" y="36576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63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32520" y="3520440"/>
            <a:ext cx="138988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05672" y="3657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P1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4160520"/>
            <a:ext cx="468172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6072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Routine-break prompt for power reorderers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257800" y="416052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30952" y="429768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897880" y="416052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71032" y="429768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37960" y="416052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11112" y="429768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178040" y="4160520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51192" y="4297680"/>
            <a:ext cx="4571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3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18120" y="4160520"/>
            <a:ext cx="84124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91272" y="4297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40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32520" y="4160520"/>
            <a:ext cx="138988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05672" y="4297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11827"/>
                </a:solidFill>
                <a:latin typeface="Calibri"/>
              </a:rPr>
              <a:t>P1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49377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RICE note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Reach = grocery-session volume that can see the intervention · Impact = attach / first-category conversion · Confidence from barrier evidence (H2 strongest) · Effort = eng + design + ops. Snacks rail wins on adjacency + low trust friction; Home guarantee attacks the #1 barrier (quality distrust).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Category Discovery Engine  ·  Why don't Blinkit users explore new categories?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F6E"/>
                </a:solidFill>
                <a:latin typeface="Calibri"/>
              </a:rPr>
              <a:t>06  · 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Flow, mechanism &amp; the AI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User workflow (product) + insight engine (how we know what to build).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74519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5664A"/>
                </a:solidFill>
                <a:latin typeface="Calibri"/>
              </a:rPr>
              <a:t>1. Grocery add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User reorders staples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9F6E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7373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7" y="1874519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5664A"/>
                </a:solidFill>
                <a:latin typeface="Calibri"/>
              </a:rPr>
              <a:t>2. Discovery rail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'Also useful tonight' snacks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9F6E"/>
                </a:solidFill>
                <a:latin typeface="Calibr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7373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874519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5664A"/>
                </a:solidFill>
                <a:latin typeface="Calibri"/>
              </a:rPr>
              <a:t>3. Trust cues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Ratings · all-in price · badge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9F6E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19" y="17373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7" y="1874519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5664A"/>
                </a:solidFill>
                <a:latin typeface="Calibri"/>
              </a:rPr>
              <a:t>4. Attach / buy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Non-grocery SKU in-session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219456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9F6E"/>
                </a:solidFill>
                <a:latin typeface="Calibr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7373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8" y="1874519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5664A"/>
                </a:solidFill>
                <a:latin typeface="Calibri"/>
              </a:rPr>
              <a:t>5. First-buy path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Home + easy return guarantee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37560"/>
            <a:ext cx="11155680" cy="2651760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7472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5664A"/>
                </a:solidFill>
                <a:latin typeface="Calibri"/>
              </a:rPr>
              <a:t>AI wedge — Category Discovery Engine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Collect multi-source feedback  →  clean &amp; embed  →  themes / sentiment / segments  →  exploration tags (barriers + signals)  →  synthesis (JTBD, hypotheses, experiments)  →  Streamlit research console + Prototype Lab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Mechanism: rule-based exploration tagger (explainable) + BERTopic themes + optional LLM polish. Output is decision-ready: ranked barriers, category opportunities, and linked MVP experiments — not another generic dashboard.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Human-in-the-loop: Validation Desk approve/reject hypotheses before treating claims as decision-grade.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Category Discovery Engine  ·  Why don't Blinkit users explore new categories?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F6E"/>
                </a:solidFill>
                <a:latin typeface="Calibri"/>
              </a:rPr>
              <a:t>07  ·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MVP build — 13-stage pipeline + Streamlit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Primary UX: Streamlit. Optional: Theme Explorer API (advanced).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21945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Collect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Play · App Store · Reddit · YouTube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783080"/>
            <a:ext cx="21945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Merge &amp; clean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Soft-dedupe → · preprocessed 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783080"/>
            <a:ext cx="21945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92024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NLP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Embed · themes · sentiment · segments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59" y="1783080"/>
            <a:ext cx="21945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92024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Explore &amp; synthesize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Tags → barriers · JTBD · experiments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783080"/>
            <a:ext cx="21945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192024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5664A"/>
                </a:solidFill>
                <a:latin typeface="Calibri"/>
              </a:rPr>
              <a:t>Serve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4B5563"/>
                </a:solidFill>
                <a:latin typeface="Calibri"/>
              </a:rPr>
              <a:t>Findings · Validation · Prototype 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Artifacts: merged → themes / sentiment / segments / exploration_tags → synthesis.json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Parity: NLP + exploration aligned on preprocessed corpus (2,818)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Gold set + barrier F1 eval (heuristic ≈ 0.88 micro-F1)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CI smoke on PRs · human review checklist on Validation Desk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4048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77639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Streamlit IA: Findings · Opportunities · Validation · Live Pipeline · Try-it · Prototype Lab · Evidence · Admin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MVP mocks: Snacks rail + Home first-buy guarantee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Exports: experiment brief Markdown · stakeholder event log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•  Run: python main.py --skip-collect  →  streamlit run app.py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Category Discovery Engine  ·  Why don't Blinkit users explore new categories?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F6E"/>
                </a:solidFill>
                <a:latin typeface="Calibri"/>
              </a:rPr>
              <a:t>08  ·  MVP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North star, leading, lagging &amp;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Instrument before scaling either MVP beyond Prototype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3611880" cy="411480"/>
          </a:xfrm>
          <a:prstGeom prst="roundRect">
            <a:avLst>
              <a:gd name="adj" fmla="val 8000"/>
            </a:avLst>
          </a:prstGeom>
          <a:solidFill>
            <a:srgbClr val="056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North 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% of MACs who purchase from ≥1 new product category each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737360"/>
            <a:ext cx="3611880" cy="411480"/>
          </a:xfrm>
          <a:prstGeom prst="roundRect">
            <a:avLst>
              <a:gd name="adj" fmla="val 8000"/>
            </a:avLst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8105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Leading — Snacks 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Attach rate of non-grocery SKU in same grocery session · rail CTR · PDP→ATC on rail SKUs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611880" cy="411480"/>
          </a:xfrm>
          <a:prstGeom prst="roundRect">
            <a:avLst>
              <a:gd name="adj" fmla="val 8000"/>
            </a:avLst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105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Leading — Home guarantee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First-time Home conversion among grocery-only cohorts · guarantee view→buy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931920"/>
            <a:ext cx="3611880" cy="411480"/>
          </a:xfrm>
          <a:prstGeom prst="roundRect">
            <a:avLst>
              <a:gd name="adj" fmla="val 8000"/>
            </a:avLst>
          </a:prstGeom>
          <a:solidFill>
            <a:srgbClr val="B547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050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Lagging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262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Category mix per MAC · repeat rate in new category · 30-day expanded basket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80" y="3931920"/>
            <a:ext cx="3611880" cy="411480"/>
          </a:xfrm>
          <a:prstGeom prst="roundRect">
            <a:avLst>
              <a:gd name="adj" fmla="val 8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0050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5262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Checkout completion drop ≤2% (rail) · return-rate spike &lt;3pp (guarantee) · no surge in 'hidden fees' tickets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92440" y="3931920"/>
            <a:ext cx="3611880" cy="411480"/>
          </a:xfrm>
          <a:prstGeom prst="roundRect">
            <a:avLst>
              <a:gd name="adj" fmla="val 8000"/>
            </a:avLst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050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Insight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526280"/>
            <a:ext cx="3246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Barrier micro-F1 on gold · hypothesis triangulation strength · % hypotheses human-approved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Category Discovery Engine  ·  Why don't Blinkit users explore new categories?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F6E"/>
                </a:solidFill>
                <a:latin typeface="Calibri"/>
              </a:rPr>
              <a:t>09  ·  PROTOTYPE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Two clickable MVPs for stakeholder demos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Research prototypes — not production Blinkit. Linked to synthesis experiments.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5664A"/>
                </a:solidFill>
                <a:latin typeface="Calibri"/>
              </a:rPr>
              <a:t>MVP 1 — Grocery → Snacks rail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Experiment: exp_discover_rail  ·  Barrier: hard to discover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After staples land in cart, surface 'Also useful tonight' snacks with freshness badge + all-in price + ratings trust panel.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Primary metric: attach rate of non-grocery SKU in-session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Guardrail: checkout completion must not drop &gt;2%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Why snacks first: highest adjacency to grocery; lowest quality-fear vs Home/Electronics.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5664A"/>
                </a:solidFill>
                <a:latin typeface="Calibri"/>
              </a:rPr>
              <a:t>MVP 2 — Home first-buy guarantee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Experiment: exp_first_buy_guarantee  ·  Barrier: quality distrust (#1)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First Home purchase shows quality score + one-tap easy return — bounds the risk that blocks trial.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11827"/>
                </a:solidFill>
                <a:latin typeface="Calibri"/>
              </a:rPr>
              <a:t>Primary metric: first-time category conversion (grocery-only cohort)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111827"/>
                </a:solidFill>
                <a:latin typeface="Calibri"/>
              </a:rPr>
              <a:t>Guardrail: return-rate spike &lt;3pp vs control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Why Home: high blocked intent + quality fear is the dominant barrier in the corpus.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Category Discovery Engine  ·  Why don't Blinkit users explore new categories?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D9F6E"/>
                </a:solidFill>
                <a:latin typeface="Calibri"/>
              </a:rPr>
              <a:t>10  ·  ASK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Calibri"/>
              </a:rPr>
              <a:t>What we need to move from research console → shipped 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B5563"/>
                </a:solidFill>
                <a:latin typeface="Calibri"/>
              </a:rPr>
              <a:t>Decision-grade path: approve hypotheses → instrument MVPs → 2-week city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5664A"/>
                </a:solidFill>
                <a:latin typeface="Calibri"/>
              </a:rPr>
              <a:t>The ask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1. Approve H2 + snacks/home opportunity framing on Validation Desk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2. Green-light 2-week A/B (or city holdout) for Snacks rail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3. Parallel design spike for Home first-buy guarantee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4. Assign owners: Discovery / Merch / Trust &amp; Returns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5664A"/>
                </a:solidFill>
                <a:latin typeface="Calibri"/>
              </a:rPr>
              <a:t>Success in 30 days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Measurable attach lift on rail + no guardrail breach; decision to scale or kill.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EC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5120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5664A"/>
                </a:solidFill>
                <a:latin typeface="Calibri"/>
              </a:rPr>
              <a:t>Near-term roadmap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Week 1–2: Instrument metrics + finalize experiment brief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Week 3–4: Snacks rail experiment live in 1–2 cities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Week 5–6: Readout · iterate copy/trust cues · queue Home guarantee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111827"/>
                </a:solidFill>
                <a:latin typeface="Calibri"/>
              </a:rPr>
              <a:t>Ongoing: Refresh corpus via main.py · keep synthesis + human review current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5664A"/>
                </a:solidFill>
                <a:latin typeface="Calibri"/>
              </a:rPr>
              <a:t>Artifact links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B5563"/>
                </a:solidFill>
                <a:latin typeface="Calibri"/>
              </a:rPr>
              <a:t>streamlit run app.py  ·  output/synthesis.json  ·  docs/architecture.md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Calibri"/>
              </a:rPr>
              <a:t>Category Discovery Engine  ·  Why don't Blinkit users explore new categories?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